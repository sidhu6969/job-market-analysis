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7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17320"/>
            <a:ext cx="10607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JOB MARKET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83464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E6EBF5"/>
                </a:solidFill>
              </a:defRPr>
            </a:pPr>
            <a:r>
              <a:t>SQL Server | Job Demand | Companies | Locations |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4069080"/>
            <a:ext cx="3749039" cy="685800"/>
          </a:xfrm>
          <a:prstGeom prst="roundRect">
            <a:avLst/>
          </a:prstGeom>
          <a:solidFill>
            <a:srgbClr val="F27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Portfolio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6E"/>
                </a:solidFill>
              </a:defRPr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832"/>
                </a:solidFill>
              </a:defRPr>
            </a:pPr>
            <a:r>
              <a:t>Analyze a structured job-market dataset using Microsoft SQL Server.</a:t>
            </a:r>
          </a:p>
          <a:p>
            <a:pPr>
              <a:spcAft>
                <a:spcPts val="1000"/>
              </a:spcAft>
              <a:defRPr sz="2000">
                <a:solidFill>
                  <a:srgbClr val="232832"/>
                </a:solidFill>
              </a:defRPr>
            </a:pPr>
            <a:r>
              <a:t>Answer practical business questions about job demand, companies, locations and experience.</a:t>
            </a:r>
          </a:p>
          <a:p>
            <a:pPr>
              <a:spcAft>
                <a:spcPts val="1000"/>
              </a:spcAft>
              <a:defRPr sz="2000">
                <a:solidFill>
                  <a:srgbClr val="232832"/>
                </a:solidFill>
              </a:defRPr>
            </a:pPr>
            <a:r>
              <a:t>Practice SQL aggregation, filtering, ranking and window functions.</a:t>
            </a:r>
          </a:p>
          <a:p>
            <a:pPr>
              <a:spcAft>
                <a:spcPts val="1000"/>
              </a:spcAft>
              <a:defRPr sz="2000">
                <a:solidFill>
                  <a:srgbClr val="232832"/>
                </a:solidFill>
              </a:defRPr>
            </a:pPr>
            <a:r>
              <a:t>Convert raw job records into clear, decision-oriented insights.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Job Market Analysis | SQL Portfolio Project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6E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832"/>
                </a:solidFill>
              </a:defRPr>
            </a:pPr>
            <a:r>
              <a:t>Records: 40 job postings</a:t>
            </a:r>
          </a:p>
          <a:p>
            <a:pPr>
              <a:spcAft>
                <a:spcPts val="1000"/>
              </a:spcAft>
              <a:defRPr sz="1900">
                <a:solidFill>
                  <a:srgbClr val="232832"/>
                </a:solidFill>
              </a:defRPr>
            </a:pPr>
            <a:r>
              <a:t>Columns: 10</a:t>
            </a:r>
          </a:p>
          <a:p>
            <a:pPr>
              <a:spcAft>
                <a:spcPts val="1000"/>
              </a:spcAft>
              <a:defRPr sz="1900">
                <a:solidFill>
                  <a:srgbClr val="232832"/>
                </a:solidFill>
              </a:defRPr>
            </a:pPr>
            <a:r>
              <a:t>Job information: title, category, location, year and company</a:t>
            </a:r>
          </a:p>
          <a:p>
            <a:pPr>
              <a:spcAft>
                <a:spcPts val="1000"/>
              </a:spcAft>
              <a:defRPr sz="1900">
                <a:solidFill>
                  <a:srgbClr val="232832"/>
                </a:solidFill>
              </a:defRPr>
            </a:pPr>
            <a:r>
              <a:t>Experience: required years of experience</a:t>
            </a:r>
          </a:p>
          <a:p>
            <a:pPr>
              <a:spcAft>
                <a:spcPts val="1000"/>
              </a:spcAft>
              <a:defRPr sz="1900">
                <a:solidFill>
                  <a:srgbClr val="232832"/>
                </a:solidFill>
              </a:defRPr>
            </a:pPr>
            <a:r>
              <a:t>Compensation: minimum and maximum salary in LPA</a:t>
            </a:r>
          </a:p>
          <a:p>
            <a:pPr>
              <a:spcAft>
                <a:spcPts val="1000"/>
              </a:spcAft>
              <a:defRPr sz="1900">
                <a:solidFill>
                  <a:srgbClr val="232832"/>
                </a:solidFill>
              </a:defRPr>
            </a:pPr>
            <a:r>
              <a:t>Employment type: Full-Time for the provided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Job Market Analysis | SQL Portfolio Project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6E"/>
                </a:solidFill>
              </a:defRPr>
            </a:pPr>
            <a:r>
              <a:t>SQL Concepts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32"/>
                </a:solidFill>
              </a:defRPr>
            </a:pPr>
            <a:r>
              <a:t>GROUP BY + COUNT() → job counts by company, year, category and location</a:t>
            </a:r>
          </a:p>
          <a:p>
            <a:pPr>
              <a:spcAft>
                <a:spcPts val="1000"/>
              </a:spcAft>
              <a:defRPr sz="1800">
                <a:solidFill>
                  <a:srgbClr val="232832"/>
                </a:solidFill>
              </a:defRPr>
            </a:pPr>
            <a:r>
              <a:t>AVG() → average experience requirements</a:t>
            </a:r>
          </a:p>
          <a:p>
            <a:pPr>
              <a:spcAft>
                <a:spcPts val="1000"/>
              </a:spcAft>
              <a:defRPr sz="1800">
                <a:solidFill>
                  <a:srgbClr val="232832"/>
                </a:solidFill>
              </a:defRPr>
            </a:pPr>
            <a:r>
              <a:t>HAVING → filtering grouped results</a:t>
            </a:r>
          </a:p>
          <a:p>
            <a:pPr>
              <a:spcAft>
                <a:spcPts val="1000"/>
              </a:spcAft>
              <a:defRPr sz="1800">
                <a:solidFill>
                  <a:srgbClr val="232832"/>
                </a:solidFill>
              </a:defRPr>
            </a:pPr>
            <a:r>
              <a:t>TOP + ORDER BY → highest-volume companies</a:t>
            </a:r>
          </a:p>
          <a:p>
            <a:pPr>
              <a:spcAft>
                <a:spcPts val="1000"/>
              </a:spcAft>
              <a:defRPr sz="1800">
                <a:solidFill>
                  <a:srgbClr val="232832"/>
                </a:solidFill>
              </a:defRPr>
            </a:pPr>
            <a:r>
              <a:t>DENSE_RANK() + PARTITION BY → ranking jobs within locations</a:t>
            </a:r>
          </a:p>
          <a:p>
            <a:pPr>
              <a:spcAft>
                <a:spcPts val="1000"/>
              </a:spcAft>
              <a:defRPr sz="1800">
                <a:solidFill>
                  <a:srgbClr val="232832"/>
                </a:solidFill>
              </a:defRPr>
            </a:pPr>
            <a:r>
              <a:t>OFFSET + FETCH NEXT → selecting the second most common category</a:t>
            </a:r>
          </a:p>
          <a:p>
            <a:pPr>
              <a:spcAft>
                <a:spcPts val="1000"/>
              </a:spcAft>
              <a:defRPr sz="1800">
                <a:solidFill>
                  <a:srgbClr val="232832"/>
                </a:solidFill>
              </a:defRPr>
            </a:pPr>
            <a:r>
              <a:t>MAX() → latest posting year for each company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Job Market Analysis | SQL Portfolio Project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6E"/>
                </a:solidFill>
              </a:defRPr>
            </a:pPr>
            <a:r>
              <a:t>Key Findings — Job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832"/>
                </a:solidFill>
              </a:defRPr>
            </a:pPr>
            <a:r>
              <a:t>Data is the largest job category with 16 records.</a:t>
            </a:r>
          </a:p>
          <a:p>
            <a:pPr>
              <a:spcAft>
                <a:spcPts val="1000"/>
              </a:spcAft>
              <a:defRPr sz="2000">
                <a:solidFill>
                  <a:srgbClr val="232832"/>
                </a:solidFill>
              </a:defRPr>
            </a:pPr>
            <a:r>
              <a:t>AI/ML is the second-largest category with 9 records.</a:t>
            </a:r>
          </a:p>
          <a:p>
            <a:pPr>
              <a:spcAft>
                <a:spcPts val="1000"/>
              </a:spcAft>
              <a:defRPr sz="2000">
                <a:solidFill>
                  <a:srgbClr val="232832"/>
                </a:solidFill>
              </a:defRPr>
            </a:pPr>
            <a:r>
              <a:t>Bangalore has the highest job count with 12 records.</a:t>
            </a:r>
          </a:p>
          <a:p>
            <a:pPr>
              <a:spcAft>
                <a:spcPts val="1000"/>
              </a:spcAft>
              <a:defRPr sz="2000">
                <a:solidFill>
                  <a:srgbClr val="232832"/>
                </a:solidFill>
              </a:defRPr>
            </a:pPr>
            <a:r>
              <a:t>Amazon has the highest company-level job count with 3 records.</a:t>
            </a:r>
          </a:p>
          <a:p>
            <a:pPr>
              <a:spcAft>
                <a:spcPts val="1000"/>
              </a:spcAft>
              <a:defRPr sz="2000">
                <a:solidFill>
                  <a:srgbClr val="232832"/>
                </a:solidFill>
              </a:defRPr>
            </a:pPr>
            <a:r>
              <a:t>Amazon also has the highest company-year count: 3 jobs in 2025.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Job Market Analysis | SQL Portfolio Project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6E"/>
                </a:solidFill>
              </a:defRPr>
            </a:pPr>
            <a:r>
              <a:t>Key Findings —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832"/>
                </a:solidFill>
              </a:defRPr>
            </a:pPr>
            <a:r>
              <a:t>Bangalore has the highest average experience requirement among locations: approximately 2.42 years.</a:t>
            </a:r>
          </a:p>
          <a:p>
            <a:pPr>
              <a:spcAft>
                <a:spcPts val="1000"/>
              </a:spcAft>
              <a:defRPr sz="1900">
                <a:solidFill>
                  <a:srgbClr val="232832"/>
                </a:solidFill>
              </a:defRPr>
            </a:pPr>
            <a:r>
              <a:t>AI/ML has the highest average experience requirement among job categories: approximately 3.11 years.</a:t>
            </a:r>
          </a:p>
          <a:p>
            <a:pPr>
              <a:spcAft>
                <a:spcPts val="1000"/>
              </a:spcAft>
              <a:defRPr sz="1900">
                <a:solidFill>
                  <a:srgbClr val="232832"/>
                </a:solidFill>
              </a:defRPr>
            </a:pPr>
            <a:r>
              <a:t>Database roles have the lowest average experience requirement: 1.00 year.</a:t>
            </a:r>
          </a:p>
          <a:p>
            <a:pPr>
              <a:spcAft>
                <a:spcPts val="1000"/>
              </a:spcAft>
              <a:defRPr sz="1900">
                <a:solidFill>
                  <a:srgbClr val="232832"/>
                </a:solidFill>
              </a:defRPr>
            </a:pPr>
            <a:r>
              <a:t>The ranking query uses DENSE_RANK() to compare experience requirements within each location.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Job Market Analysis | SQL Portfolio Project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6E"/>
                </a:solidFill>
              </a:defRPr>
            </a:pPr>
            <a:r>
              <a:t>Example SQL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89920" cy="3474720"/>
          </a:xfrm>
          <a:prstGeom prst="roundRect">
            <a:avLst/>
          </a:prstGeom>
          <a:solidFill>
            <a:srgbClr val="F2F6FC"/>
          </a:solidFill>
          <a:ln>
            <a:solidFill>
              <a:srgbClr val="143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102412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832"/>
                </a:solidFill>
                <a:latin typeface="Consolas"/>
              </a:defRPr>
            </a:pPr>
            <a:r>
              <a:t>SELECT Job_Title, Location,</a:t>
            </a:r>
            <a:br/>
            <a:r>
              <a:t>       Experience_Required_Years,</a:t>
            </a:r>
            <a:br/>
            <a:r>
              <a:t>       DENSE_RANK() OVER (</a:t>
            </a:r>
            <a:br/>
            <a:r>
              <a:t>           PARTITION BY Location</a:t>
            </a:r>
            <a:br/>
            <a:r>
              <a:t>           ORDER BY Experience_Required_Years DESC</a:t>
            </a:r>
            <a:br/>
            <a:r>
              <a:t>       ) AS Ranks</a:t>
            </a:r>
            <a:br/>
            <a:r>
              <a:t>FROM [job dataset].dbo.Job_Market_Dataset;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07492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832"/>
                </a:solidFill>
              </a:defRPr>
            </a:pPr>
            <a:r>
              <a:t>Purpose: rank jobs within each location by required experience.</a:t>
            </a:r>
          </a:p>
          <a:p>
            <a:pPr>
              <a:spcAft>
                <a:spcPts val="1000"/>
              </a:spcAft>
              <a:defRPr sz="1600">
                <a:solidFill>
                  <a:srgbClr val="232832"/>
                </a:solidFill>
              </a:defRPr>
            </a:pPr>
            <a:r>
              <a:t>This demonstrates a practical SQL window-function use case.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Job Market Analysis | SQL Portfolio Project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6E"/>
                </a:solidFill>
              </a:defRPr>
            </a:pPr>
            <a:r>
              <a:t>Business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832"/>
                </a:solidFill>
              </a:defRPr>
            </a:pPr>
            <a:r>
              <a:t>Bangalore is the strongest location in this sample by job volume.</a:t>
            </a:r>
          </a:p>
          <a:p>
            <a:pPr>
              <a:spcAft>
                <a:spcPts val="1000"/>
              </a:spcAft>
              <a:defRPr sz="1900">
                <a:solidFill>
                  <a:srgbClr val="232832"/>
                </a:solidFill>
              </a:defRPr>
            </a:pPr>
            <a:r>
              <a:t>Data and AI/ML roles dominate the dataset.</a:t>
            </a:r>
          </a:p>
          <a:p>
            <a:pPr>
              <a:spcAft>
                <a:spcPts val="1000"/>
              </a:spcAft>
              <a:defRPr sz="1900">
                <a:solidFill>
                  <a:srgbClr val="232832"/>
                </a:solidFill>
              </a:defRPr>
            </a:pPr>
            <a:r>
              <a:t>AI/ML positions generally require more experience than other categories in this sample.</a:t>
            </a:r>
          </a:p>
          <a:p>
            <a:pPr>
              <a:spcAft>
                <a:spcPts val="1000"/>
              </a:spcAft>
              <a:defRPr sz="1900">
                <a:solidFill>
                  <a:srgbClr val="232832"/>
                </a:solidFill>
              </a:defRPr>
            </a:pPr>
            <a:r>
              <a:t>The analysis demonstrates how SQL can turn job-posting records into useful hiring-market insights.</a:t>
            </a:r>
          </a:p>
          <a:p>
            <a:pPr>
              <a:spcAft>
                <a:spcPts val="1000"/>
              </a:spcAft>
              <a:defRPr sz="1900">
                <a:solidFill>
                  <a:srgbClr val="232832"/>
                </a:solidFill>
              </a:defRPr>
            </a:pPr>
            <a:r>
              <a:t>The dataset is a portfolio/practice dataset, so conclusions should not be generalized to the entire job market.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Job Market Analysis | SQL Portfolio Project                                    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